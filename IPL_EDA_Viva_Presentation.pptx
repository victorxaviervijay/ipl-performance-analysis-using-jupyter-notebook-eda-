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8" r:id="rId19"/>
    <p:sldId id="279" r:id="rId20"/>
    <p:sldId id="281" r:id="rId21"/>
    <p:sldId id="283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3" r:id="rId30"/>
    <p:sldId id="294" r:id="rId31"/>
    <p:sldId id="295" r:id="rId32"/>
    <p:sldId id="297" r:id="rId33"/>
    <p:sldId id="298" r:id="rId34"/>
    <p:sldId id="300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FCB5BA0-5D81-4E0E-A785-4014389A6286}">
          <p14:sldIdLst>
            <p14:sldId id="256"/>
            <p14:sldId id="257"/>
            <p14:sldId id="258"/>
            <p14:sldId id="260"/>
            <p14:sldId id="262"/>
            <p14:sldId id="263"/>
            <p14:sldId id="264"/>
            <p14:sldId id="265"/>
            <p14:sldId id="267"/>
            <p14:sldId id="268"/>
            <p14:sldId id="269"/>
            <p14:sldId id="270"/>
            <p14:sldId id="272"/>
            <p14:sldId id="273"/>
            <p14:sldId id="274"/>
            <p14:sldId id="275"/>
            <p14:sldId id="276"/>
            <p14:sldId id="278"/>
            <p14:sldId id="279"/>
            <p14:sldId id="281"/>
            <p14:sldId id="283"/>
            <p14:sldId id="285"/>
            <p14:sldId id="286"/>
            <p14:sldId id="287"/>
            <p14:sldId id="288"/>
            <p14:sldId id="289"/>
            <p14:sldId id="290"/>
            <p14:sldId id="291"/>
            <p14:sldId id="293"/>
            <p14:sldId id="294"/>
            <p14:sldId id="295"/>
            <p14:sldId id="297"/>
            <p14:sldId id="298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19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0AB017D8-D50C-E315-CD9A-6DC8A41D9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69" y="0"/>
            <a:ext cx="12188388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159A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1336" y="2892334"/>
            <a:ext cx="11756571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IPL Performance Analytics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14400" y="2907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13816" y="356158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Matches  •  Ball-by-Ball Deliveries  •  Players  •  Seasons  •  Fan Engagement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16052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C8F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33672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1,158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473659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72384" y="416052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C8F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4233672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134,190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072384" y="473659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30368" y="416052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C8F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4233672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580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230368" y="473659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88352" y="416052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C8F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8352" y="4233672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388352" y="473659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46336" y="416052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C8F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46336" y="4233672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4,320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546336" y="473659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Records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78240" y="5440680"/>
            <a:ext cx="27614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By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Victor Xavier Vijay M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B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This Deck Covers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linked phases of analysis — from raw data audit to an executive KPI dashboard. Every chart on the following slides is built from the real project code and the actual numbers it produced.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AF1FB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2139696"/>
            <a:ext cx="566928" cy="566928"/>
          </a:xfrm>
          <a:prstGeom prst="ellipse">
            <a:avLst/>
          </a:prstGeom>
          <a:solidFill>
            <a:srgbClr val="00053C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21396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07592" y="2066544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Feature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07592" y="2432304"/>
            <a:ext cx="4453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cleaning, derived columns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993392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AF1FB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9944" y="2139696"/>
            <a:ext cx="566928" cy="566928"/>
          </a:xfrm>
          <a:prstGeom prst="ellipse">
            <a:avLst/>
          </a:prstGeom>
          <a:solidFill>
            <a:srgbClr val="0005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21396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14032" y="2066544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14032" y="2432304"/>
            <a:ext cx="4453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outcomes, scores, players, fans — one variable at a time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072384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AF1FB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3218688"/>
            <a:ext cx="566928" cy="566928"/>
          </a:xfrm>
          <a:prstGeom prst="ellipse">
            <a:avLst/>
          </a:prstGeom>
          <a:solidFill>
            <a:srgbClr val="00053C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3218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07592" y="3145536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Bivariate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07592" y="3511296"/>
            <a:ext cx="4453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Toss vs result, score relationships, style vs price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3072384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AF1FB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9944" y="3218688"/>
            <a:ext cx="566928" cy="566928"/>
          </a:xfrm>
          <a:prstGeom prst="ellipse">
            <a:avLst/>
          </a:prstGeom>
          <a:solidFill>
            <a:srgbClr val="00053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9944" y="3218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14032" y="3145536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14032" y="3511296"/>
            <a:ext cx="4453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Heatmaps, role×cap×price, bubble charts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151376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AF1FB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" y="4297680"/>
            <a:ext cx="566928" cy="566928"/>
          </a:xfrm>
          <a:prstGeom prst="ellipse">
            <a:avLst/>
          </a:prstGeom>
          <a:solidFill>
            <a:srgbClr val="00053C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" y="4297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07592" y="4224528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Player Performance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07592" y="4590288"/>
            <a:ext cx="4453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leaderboards, strike rate, top performers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4151376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AF1FB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9944" y="4297680"/>
            <a:ext cx="566928" cy="566928"/>
          </a:xfrm>
          <a:prstGeom prst="ellipse">
            <a:avLst/>
          </a:prstGeom>
          <a:solidFill>
            <a:srgbClr val="00053C"/>
          </a:solidFill>
          <a:ln/>
        </p:spPr>
      </p:sp>
      <p:sp>
        <p:nvSpPr>
          <p:cNvPr id="35" name="Text 33"/>
          <p:cNvSpPr/>
          <p:nvPr/>
        </p:nvSpPr>
        <p:spPr>
          <a:xfrm>
            <a:off x="6409944" y="4297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114032" y="4224528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Trends, Venues &amp; Fan Engagement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14032" y="4590288"/>
            <a:ext cx="4453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trends, correlation heatmap, venue effects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5230368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AF1FB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" y="5376672"/>
            <a:ext cx="566928" cy="566928"/>
          </a:xfrm>
          <a:prstGeom prst="ellipse">
            <a:avLst/>
          </a:prstGeom>
          <a:solidFill>
            <a:srgbClr val="00053C"/>
          </a:solidFill>
          <a:ln/>
        </p:spPr>
      </p:sp>
      <p:sp>
        <p:nvSpPr>
          <p:cNvPr id="40" name="Text 38"/>
          <p:cNvSpPr/>
          <p:nvPr/>
        </p:nvSpPr>
        <p:spPr>
          <a:xfrm>
            <a:off x="603504" y="5376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307592" y="5303520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Testing &amp; Outliers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307592" y="5669280"/>
            <a:ext cx="4453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Chi-square, Pearson r, percentile-based outliers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63640" y="5230368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AF1FB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09944" y="5376672"/>
            <a:ext cx="566928" cy="566928"/>
          </a:xfrm>
          <a:prstGeom prst="ellipse">
            <a:avLst/>
          </a:prstGeom>
          <a:solidFill>
            <a:srgbClr val="00053C"/>
          </a:solidFill>
          <a:ln/>
        </p:spPr>
      </p:sp>
      <p:sp>
        <p:nvSpPr>
          <p:cNvPr id="45" name="Text 43"/>
          <p:cNvSpPr/>
          <p:nvPr/>
        </p:nvSpPr>
        <p:spPr>
          <a:xfrm>
            <a:off x="6409944" y="5376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114032" y="5303520"/>
            <a:ext cx="4453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 &amp; Dashboard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114032" y="5669280"/>
            <a:ext cx="4453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 + executive KPI summary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Datasets, One 360° Story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On-field performance and off-field fan engagement are joined on season and team, which is what makes this project distinctive.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47120" cy="731520"/>
          </a:xfrm>
          <a:prstGeom prst="roundRect">
            <a:avLst>
              <a:gd name="adj" fmla="val 8750"/>
            </a:avLst>
          </a:prstGeom>
          <a:solidFill>
            <a:srgbClr val="EAF1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5798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matches.csv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0" y="215798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1,158 rows × 25 cols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2157984"/>
            <a:ext cx="5806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match — teams, toss, venue, scores, winner, margin.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112471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9923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deliveries.csv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200400" y="299923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134,190 rows × 18 cols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2999232"/>
            <a:ext cx="5806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ball bowled — the most granular table, used for player stats.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11247120" cy="731520"/>
          </a:xfrm>
          <a:prstGeom prst="roundRect">
            <a:avLst>
              <a:gd name="adj" fmla="val 8750"/>
            </a:avLst>
          </a:prstGeom>
          <a:solidFill>
            <a:srgbClr val="EAF1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4048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players.csv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00400" y="384048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580 rows × 12 cols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0" y="3840480"/>
            <a:ext cx="5806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player — role, nationality, auction price, career span.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26864"/>
            <a:ext cx="112471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68172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seasons.csv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200400" y="468172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rows × 14 cols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4681728"/>
            <a:ext cx="5806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season — pre-aggregated totals, champion, records.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468112"/>
            <a:ext cx="11247120" cy="731520"/>
          </a:xfrm>
          <a:prstGeom prst="roundRect">
            <a:avLst>
              <a:gd name="adj" fmla="val 8750"/>
            </a:avLst>
          </a:prstGeom>
          <a:solidFill>
            <a:srgbClr val="EAF1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52297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fan_trends.csv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200400" y="552297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4,320 rows × 25 cols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0" y="5522976"/>
            <a:ext cx="5806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Team-season-platform fan engagement, sentiment &amp; trend records.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1-2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→ Clean → Engineer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159A1"/>
                </a:solidFill>
              </a:rPr>
              <a:t>WHY THIS STEP FIRST  </a:t>
            </a:r>
            <a:r>
              <a:rPr lang="en-US" sz="1300" dirty="0">
                <a:solidFill>
                  <a:srgbClr val="00010E"/>
                </a:solidFill>
              </a:rPr>
              <a:t>An EDA is only as trustworthy as the data underneath it. Before drawing a single chart, every table was passed through a reusable audit() function checking shape, duplicates, missing values, unique counts and summary statistics.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159A1"/>
                </a:solidFill>
              </a:rPr>
              <a:t>WHAT I FOUND  </a:t>
            </a:r>
            <a:r>
              <a:rPr lang="en-US" sz="1300" dirty="0">
                <a:solidFill>
                  <a:srgbClr val="00010E"/>
                </a:solidFill>
              </a:rPr>
              <a:t>Zero duplicate rows across all five tables. Missing values were concentrated in columns like extra_type and dismissal_type — and that's expected, not an error, because not every ball produces an extra or a wicket.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Engineered Columns That Power Every Chart That Follows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EAF1F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2900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is_boundary / is_six / is_four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342900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deliveries.batsman_runs.isin([4,6])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60920" y="342900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boundary balls for quick aggregation.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95928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9592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over_cluster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3995928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pd.cut(over, [0,6,15,20])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60920" y="399592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overs into Powerplay / Middle / Death phases.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62856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EA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6285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chased_successfully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4562856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win_by == 'wickets'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60920" y="456285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text result into a boolean for averaging.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129784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29784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career_length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5129784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last_season − debut_season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60920" y="512978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Seasons played — used against auction price.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696712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EAF1F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9671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engagement_tier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0" y="5696712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pd.cut(engagement_rate, ...)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60920" y="569671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Bins fan engagement into Low/Medium/High/Viral.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 Outcome Distributions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3A_match_outco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75" y="1417320"/>
            <a:ext cx="9943171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value_counts() turns a categorical column into frequencies; bar charts compare counts across a few categories, and a pie chart is appropriate here because toss_decision has only two mutually exclusive outcomes whose share of a whole is the point.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1158 matches, 1107 (95.6%) finished normally; ties and no-results are rare. Captains chose to BAT first 616 times vs FIELD first 542 times (53.2% bat-first) — batting first is the more common toss call in this data, not fielding.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 by runs (539) and by wickets (528) are almost evenly split, with 65 matches decided by Super Over — that near 50/50 split is itself a useful baseline for everything that follows.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Innings Score Distributions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3B_score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731" y="1417320"/>
            <a:ext cx="7698059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sns.histplot(..., kde=True) bins a continuous numeric column and overlays a smooth density curve, the standard way to see a variable's shape — symmetric, skewed, or multi-peaked — at a glance.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First-innings scores average 175.1 runs (median 176, std 47.5) with a mild right skew (0.17). Second-innings scores average 155.8 and are slightly LEFT-skewed (-0.53) because many chases end early once the target is reached — the innings simply stops.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NOTE: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Skewness near 0 (first innings) means a fairly symmetric bell shape; a negative value (second innings) means the tail stretches toward lower scores — exactly what you'd expect when some 'innings' are cut short by victory.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Player Profile Analysis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3C_player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316" y="1417320"/>
            <a:ext cx="9946888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univariate views — bar for role counts, horizontal bar for the top-10 nationalities (long labels read better sideways), and a histogram for price — because each variable needs the chart type that matches its data type.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Batsmen are the most common role (206 of 580), followed by Bowlers (165). India supplies the most players (258), well ahead of Australia (63) — expected for a domestic Indian league.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NOTE: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Auction price has a skewness of 1.29 — strongly right-skewed. Mean price (₹597L) sits well above the median (₹405L), so the median is the fairer "typical player" benchmark; the mean is pulled upward by a handful of marquee buys.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Fan Engagement Distributions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3D_fan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316" y="1417320"/>
            <a:ext cx="9946888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histogram for the continuous engagement_rate, a pie chart for the categorical fan_sentiment split, and a bar chart for platform record counts — again, chart type follows variable type.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7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— A GENUINE SURPRISE: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in this dataset is NEVER 'Positive': it is 70.6% Negative and 29.4% Neutral only. That is worth flagging openly in viva as an unusual pattern in the data rather than glossing over it.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platforms (Instagram, Twitter, Facebook, YouTube) contribute exactly 1,080 records each — a perfectly balanced sample, so later platform comparisons are not biased by sample-size differences.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Toss Decision vs Match Result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4A_toss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999" y="1417320"/>
            <a:ext cx="6601522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groupby('toss_decision').apply(lambda d: (d.toss_winner==d.winner).mean()*100) turns a row-level comparison into a single win-rate percentage per group — the cleanest way to compare two categorical strategies on a common scale.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Toss winners win only 46.9% of matches overall — barely different from a coin flip. Batting-first toss winners actually win marginally MORE often (47.4%) than fielding-first toss winners (46.3%).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NOTE: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~1 percentage-point gap is tiny. Section 11's Chi-square test on this exact relationship returns p = 0.754 (≫ 0.05) — confirming statistically that toss decision and match result are independent in this data.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vs Second Innings Score Relationship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4B_innings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438" y="1417320"/>
            <a:ext cx="7716644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scatter plot is the right tool whenever you want to see the relationship between two continuous numbers, one dot per match. Colour-coding by chased_successfully adds a third, categorical dimension; the diagonal line marks the break-even score.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that were defended had an average first-innings score of 182.6 runs, versus only 166.1 runs in matches that were successfully chased — a gap of about 17 runs.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visible run-threshold: teams that bat first and clear roughly 180 tend to defend; targets below that are chased down more often. This is the kind of number a captain can use when deciding how aggressively to bat first.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4C &amp; 4D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Batting Style vs Price  |  Platform vs Engagement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4CD_price_eng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297" y="1417320"/>
            <a:ext cx="7712927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horizontal bar of group means (groupby('batting_style').mean()) compares two categories cleanly; a box plot compares full distributions — not just averages — across the four platforms, which matters because engagement has outlier 'viral' spikes a bar chart would hide.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Left-hand batsmen command a slightly higher average auction price (₹619L) than right-hand batsmen (₹588L). Engagement rate is remarkably FLAT across platforms — 14.10% to 13.99%, a gap of under 0.2 points.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platform engagement is so similar, the box plot's outlier dots — not its median line — are where the real platform story lives: occasional viral spikes, not a structurally 'better' platform.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4E &amp; 4F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 % vs Popularity  |  Season Runs Trend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4EF_popularity_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731" y="1417320"/>
            <a:ext cx="7698059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scatter plot with hue='team' shows whether winning and popularity move together across many team-season points; a line chart with fill_between is the standard way to show a trend across an ordered sequence — IPL seasons.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NOTE: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win_percentage correlates strongly with popularity_index (Pearson r = 0.878) but almost NOT AT ALL with engagement_rate (r = 0.013). Winning builds reputation/popularity, but day-to-day social engagement is driven by something else entirely.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runs scored per season moved from 20,244 in the first season to 24,134 in the most recent one — a reminder to always check the actual numbers rather than assume scoring only ever goes up.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Wins Per Season — Heatmap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5A_team_seas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589" y="1417320"/>
            <a:ext cx="5682343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groupby(['season','winner']).size().unstack() builds a team × season matrix; a heatmap is the only chart type that lets a viewer scan two categorical axes and a numeric value (colour intensity) simultaneously without reading every cell.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Challengers Bangalore have the MOST total wins of any franchise (144), narrowly ahead of Mumbai Indians (130) and Chennai Super Kings (129).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RCB does not top the championship count, as the next part of this deck (Team &amp; Player Performance) shows — the most total match wins does not automatically mean the most titles, a nuance worth pointing out unprompted.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Auction Price by Role &amp; International Cap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5B_player_role_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033" y="1417320"/>
            <a:ext cx="7653454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sns.boxplot(..., hue='is_capped_international') adds a third variable to a two-variable box plot by drawing two boxes per role — capped and uncapped — so all three dimensions (role, cap status, price spread) are visible together.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All-Rounders fetch the highest average price among capped players (₹671L), while among UNCAPPED players Batsmen actually price highest (₹644L) — capped Batsmen average less (₹555L) than uncapped ones in this data.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counter-intuitive Batsman result is worth raising in viva: it shows the value of checking the actual grouped numbers rather than assuming 'capped always means pricier' for every role.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Venue × Day/Night × Average Score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5C_venue_day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476" y="1417320"/>
            <a:ext cx="5550568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groupby(['venue','is_day_night']).agg(avg_first=('...','mean'), match_count=('...','count')) computes two aggregations in one pass; filtering to venues with 8+ matches before plotting avoids a single fluke score distorting a venue's 'average'.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first-innings score varies meaningfully by venue — some grounds are clearly more batting-friendly than others — but day vs night bars at the same venue sit close together, a pattern confirmed numerically on the next venue slide.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MIN-MATCH FILTER: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match_count &gt;= 8 filter, a venue that hosted only 1-2 matches could show a misleadingly extreme average — exactly the kind of small-sample trap a careful analyst checks for.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Fan Engagement — Platform×Season &amp; Team Sentiment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5D_fan_multivari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877" y="1417320"/>
            <a:ext cx="8831766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multi-line chart (hue='platform') tracks four time series at once; a stacked bar (unstack().plot(kind='bar', stacked=True)) shows how each team's sentiment record count is composed of Negative vs Neutral shares — composition, not just totals.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platforms move together season over season rather than diverging — reinforcing the 4C/4D finding that platform is not a strong differentiator of engagement in this dataset.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sentiment has no 'Positive' category at all here, every team's stacked bar is a Negative/Neutral split only — useful to mention explicitly so the examiner knows you read the data carefully rather than assuming a generic three-way split.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Bowler Economy Rate vs Total Wickets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818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5E_bowler_econ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731" y="1417320"/>
            <a:ext cx="4359058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417320"/>
            <a:ext cx="3246120" cy="816864"/>
          </a:xfrm>
          <a:prstGeom prst="roundRect">
            <a:avLst>
              <a:gd name="adj" fmla="val 8955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67928" y="1472184"/>
            <a:ext cx="3026664" cy="473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-0.20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567928" y="1907438"/>
            <a:ext cx="3026664" cy="310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r: economy vs wickets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458200" y="2380488"/>
            <a:ext cx="3246120" cy="816864"/>
          </a:xfrm>
          <a:prstGeom prst="roundRect">
            <a:avLst>
              <a:gd name="adj" fmla="val 8955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67928" y="2435352"/>
            <a:ext cx="3026664" cy="473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Naveen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567928" y="2870606"/>
            <a:ext cx="3026664" cy="310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wicket-taker: 27 wkts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458200" y="3343656"/>
            <a:ext cx="3246120" cy="816864"/>
          </a:xfrm>
          <a:prstGeom prst="roundRect">
            <a:avLst>
              <a:gd name="adj" fmla="val 8955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67928" y="3398520"/>
            <a:ext cx="3026664" cy="473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13.71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567928" y="3833774"/>
            <a:ext cx="3026664" cy="310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economy rate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bubble chart encodes FOUR variables at once: economy (x), wickets (y), bowler identity (label) and balls bowled (bubble size) — the only chart type that fits all four into a single readable picture.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Naveen Stubbs leads with 27 wickets at an economy of 13.71. The correlation between economy and wickets is only r = -0.20 — weak — so taking more wickets does not strongly require a lower economy in this data; the two skills are fairly independent.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300-BALL FILTER: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balls &gt;= 300 (50 overs) excludes bowlers with too little data for a stable economy rate — a bowler who bowled 2 overs for 6 runs has a flattering economy that is statistically meaningless.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6A &amp; 6B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All-Time Wins &amp; Championships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6AB_team_wins_cha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913" y="1417320"/>
            <a:ext cx="7361695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value_counts() on matches.winner gives total wins; value_counts() on seasons.champion gives titles. Two different bar charts side by side because 'most wins' and 'most championships' are genuinely different questions.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RCB lead in total wins (144) but Chennai Super Kings and Mumbai Indians are tied for the most titles (5 each), with Kolkata Knight Riders next on 4.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RCB does not appear in the championship leaderboard at all in this dataset — a strong, specific, examiner-friendly contrast to lead with: consistent regular-season success has not translated into titles.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6C &amp; 6D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Win Rate &amp; Toss Strategy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6CD_winrate_t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051" y="1417320"/>
            <a:ext cx="4915417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pd.concat([team1, team2]).value_counts() is needed because each match lists a team in EITHER column — concatenating both columns is the only way to get each team's true total matches played, the correct denominator for win rate.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 (wins ÷ matches played) re-ranks teams differently from raw win counts: Pune Warriors India top this list at 57.4%, ahead of Punjab Kings (54.7%) and Chennai Super Kings (54%).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RATE OVER RAW COUNT: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 is the fairer comparison because franchises have played very different numbers of matches across IPL history — a short-lived team can have a strong rate on a small base, which is itself worth flagging as a sample-size caveat in viva.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7A &amp; 7B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Run Scorers &amp; Wicket Takers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7AB_top_perform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890" y="1417320"/>
            <a:ext cx="631574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deliveries.groupby('striker').batsman_runs.sum() rolls up every ball into a career total; the wicket-takers panel first filters to is_wicket==True rows, then groupby('bowler').size() counts dismissals — .size() is simpler than .sum() when the filtered rows ARE the thing being counted.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Ajinkya Saha leads run-scoring with 1043 runs; Naveen Stubbs leads wicket-taking with 27 wickets.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the top 15, not all 580 players, keeps the chart readable — .head(15) after sorting is a simple but important presentation choice.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7E &amp; 7F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Career Length vs Price  |  Debut-Season Pricing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818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7EF_career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48" y="1417320"/>
            <a:ext cx="7690624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4173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67928" y="1472184"/>
            <a:ext cx="3026664" cy="7531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-0.06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567928" y="2196389"/>
            <a:ext cx="3026664" cy="493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r: career length vs price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458200" y="2862072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67928" y="2916936"/>
            <a:ext cx="3026664" cy="7531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p=0.12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567928" y="3641141"/>
            <a:ext cx="3026664" cy="493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statistically significant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scatter plot with hue='playing_role' checks whether career longevity buys a higher price, and whether that pattern differs by role; a line chart of mean price by debut season checks for any pricing trend over IPL history.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7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— ANOTHER GENUINE SURPRISE: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length and auction price correlate at only r = -0.06 (p = 0.12, not significant) — playing more seasons does NOT reliably buy a higher price in this data.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price for debutants also FELL from ₹605L in the earliest debut season to ₹449L in the most recent — the opposite of an "auction inflation" story, and worth saying plainly rather than assuming the popular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Season-Level Trend Analysis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8_season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417320"/>
            <a:ext cx="11216639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2×2 subplot grid tells one connected season-by-season story in a single figure: total runs (line+fill), sixes vs fours (two-line), average first-innings score (line), and highest/lowest totals (bars — because extremes, not trends, are the point there).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7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first-innings score actually fell from 183.1 in the first season to 168.7 in the latest — and the sixes-to-fours ratio also dropped, from 0.49 to 0.40. Both run counter to the usual "T20 scoring only ever rises" assumption.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highest team total on record is 315; the single lowest is 51 — that 264-run spread across IPL history is itself worth a sentence in viva.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9A &amp; 9B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Fan Engagement by Team &amp; Platform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9AB_fan_eng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913" y="1417320"/>
            <a:ext cx="7361695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groupby('team').engagement_rate.mean() ranks teams on one metric; the grouped bar chart uses np.arange() with small x-offsets to place three platform metrics (engagement, likes, shares) side by side for direct comparison.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Team-level engagement differences are small — the top three teams (MI, GT, CSK) sit within half a point of each other (14.32% / 14.30% / 14.18%).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Followers, likes and shares all scale together across platforms — consistent with the strong follower-likes correlation confirmed on the next slide's heatmap.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Correlation Heatmap — Performance vs Fan Metrics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818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9C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415" y="1417320"/>
            <a:ext cx="315969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417320"/>
            <a:ext cx="3246120" cy="816864"/>
          </a:xfrm>
          <a:prstGeom prst="roundRect">
            <a:avLst>
              <a:gd name="adj" fmla="val 8955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67928" y="1472184"/>
            <a:ext cx="3026664" cy="473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0.878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567928" y="1907438"/>
            <a:ext cx="3026664" cy="310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win% ↔ popularity_index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458200" y="2380488"/>
            <a:ext cx="3246120" cy="816864"/>
          </a:xfrm>
          <a:prstGeom prst="roundRect">
            <a:avLst>
              <a:gd name="adj" fmla="val 8955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67928" y="2435352"/>
            <a:ext cx="3026664" cy="473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0.806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567928" y="2870606"/>
            <a:ext cx="3026664" cy="310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 ↔ likes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458200" y="3343656"/>
            <a:ext cx="3246120" cy="816864"/>
          </a:xfrm>
          <a:prstGeom prst="roundRect">
            <a:avLst>
              <a:gd name="adj" fmla="val 8955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67928" y="3398520"/>
            <a:ext cx="3026664" cy="473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0.013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567928" y="3833774"/>
            <a:ext cx="3026664" cy="310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win% ↔ engagement_rate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df[cols].corr() computes every pairwise Pearson correlation at once; a heatmap with vmin=-1, vmax=1 and a diverging colormap (coolwarm) is the standard way to scan many correlations simultaneously — colour intensity does the reading for you.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win_percentage and popularity_index correlate strongly (r=0.878) — winning really does build reputation. But win_percentage barely correlates with engagement_rate (r=0.013): being good and being talked-about-online are not the same thing in this data.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NOTE: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estimated_followers and estimated_likes correlate at 0.806 — expected, since both scale with overall account size — while engagement_rate (a ratio metric) is independent of raw follower count (r=-0.006), exactly as a normalised rate metric should behave.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9D &amp; 9E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Sentiment Trends &amp; Fan Trend Direction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9DE_sentiment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877" y="1417320"/>
            <a:ext cx="8831766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groupby(['season','fan_sentiment']).size().unstack() turns category counts into a time series, drawn as a multi-line chart; the team-level version is drawn as a stacked bar so each team's bar height still equals its total record count.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and Neutral sentiment move together across seasons rather than diverging sharply — there's no single season where fan mood swings dramatically in either direction.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trend_type stacked bars (Rising/Falling/Stable) let you instantly compare which teams are gaining momentum versus which are flat — useful framing for a 'who to watch next season' style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Monthly Fan Engagement Pattern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9F_monthly_eng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218" y="1417320"/>
            <a:ext cx="5577084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was set as pd.Categorical(..., ordered=True) in Section 2 specifically so this bar chart shows calendar order, not alphabetical order; groupby('month', observed=True) then only plots months that actually occur in the data.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is highest in August (14.15%) and lowest in July (13.91%) — but the entire March-to-August range only spans about 0.24 percentage points, a very flat seasonal pattern.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data only covers the March-August window (the active IPL season), there's no off-season comparison available here — worth noting as a scope limitation if asked.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10A &amp; 10B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Venue Popularity &amp; City-Level Scoring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10AB_venue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890" y="1417320"/>
            <a:ext cx="631574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value_counts().head(12) ranks venues by how many matches they hosted; groupby('city').first_innings_score.mean() ranks cities by average scoring conditions — two different questions, two horizontal bar charts.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Chinnaswamy Stadium hosted the most matches (131). Navi Mumbai produced the highest average first-innings score (197.5), ahead of Pune (192.2) and Ranchi (190.7).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bars (barh) were chosen over vertical bars specifically because venue and city names are long — vertical labels would overlap or need awkward rotation.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10C &amp; 10D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Chase Success Rate &amp; Day/Night Scoring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10CD_venue_day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363" y="1417320"/>
            <a:ext cx="7364795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Chase-success rate per venue is filtered to venues with 10+ matches before ranking, for the same small-sample reason as Section 5C; a box plot (not a bar chart) compares day vs night SCORE DISTRIBUTIONS, not just their averages.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7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International Stadium has the highest chase-success rate (58.3%) among well-sampled venues. Day matches average 175.3 runs first-innings versus 175.0 at night — essentially NO difference.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null result is itself informative: the popular 'dew helps the chasing team at night' narrative is not supported by the scoring data here, and a good analyst reports a null finding as confidently as a positive one.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Charts to Proof: Statistical Testing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chart suggests a pattern; a statistical test tells you whether that pattern could just be random noise.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Chi-Square Test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53288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chi2_contingency(pd.crosstab(toss_decision, toss_winner==winner))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2221992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0005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22199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 = 0.098,  p = 0.754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86600" y="214884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&gt; 0.05 → FAIL to reject the null. Toss decision and match result are statistically independent — the chart-level hint of a tiny gap is not real.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3639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Pearson Correlation — Career vs Price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402336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stats.pearsonr(career_length, highest_auction_price_lakh)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6280" y="3712464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0005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71246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-0.064,  p = 0.121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86600" y="3639312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&gt; 0.05 → also not significant. Career length alone does not predict auction price in this dataset.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038344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EAF1FB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51297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Pearson Correlation — Win% vs Popularity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51383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1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fan_trends[cols].corr(method='pearson')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26280" y="5202936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00053C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520293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0.878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86600" y="5129784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and clearly meaningful — winning teams really do become more popular. This is the one relationship in this deck strong enough to act on with confidence.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Pivot Table — Engagement Rate by Team × Platform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818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12C_team_platform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652" y="1417320"/>
            <a:ext cx="4315216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4173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67928" y="1472184"/>
            <a:ext cx="3026664" cy="7531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pivot_table()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567928" y="2196389"/>
            <a:ext cx="3026664" cy="493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index=team, columns=platform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458200" y="2862072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67928" y="2916936"/>
            <a:ext cx="3026664" cy="7531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aggfunc='mean'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567928" y="3641141"/>
            <a:ext cx="3026664" cy="493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value = avg engagement 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pivot_table(index='team', columns='platform', values='engagement_rate', aggfunc='mean') is the exact pandas equivalent of an Excel pivot table — it reshapes long data into a wide team×platform grid in one call, then a heatmap colours it.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Cell-to-cell variation within this grid is modest, consistent with the earlier finding that platform is a weak differentiator — but a few team-platform combinations do stand out as relatively stronger, visible as slightly darker cells.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PIVOT, NOT JUST GROUPBY: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groupby(['team','platform']).mean() would give the same numbers as a tall, narrow series; .unstack() — or pivot_table() directly — turns that into the compact, scannable matrix a heatmap needs.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Outlier Detection Across Three Metrics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818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13E_outlier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861"/>
            <a:ext cx="7818120" cy="215611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417320"/>
            <a:ext cx="3246120" cy="816864"/>
          </a:xfrm>
          <a:prstGeom prst="roundRect">
            <a:avLst>
              <a:gd name="adj" fmla="val 8955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67928" y="1472184"/>
            <a:ext cx="3026664" cy="473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217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567928" y="1907438"/>
            <a:ext cx="3026664" cy="310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scored 220+ runs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458200" y="2380488"/>
            <a:ext cx="3246120" cy="816864"/>
          </a:xfrm>
          <a:prstGeom prst="roundRect">
            <a:avLst>
              <a:gd name="adj" fmla="val 8955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67928" y="2435352"/>
            <a:ext cx="3026664" cy="473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216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567928" y="2870606"/>
            <a:ext cx="3026664" cy="310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fan-engagement posts (top 5%)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458200" y="3343656"/>
            <a:ext cx="3246120" cy="816864"/>
          </a:xfrm>
          <a:prstGeom prst="roundRect">
            <a:avLst>
              <a:gd name="adj" fmla="val 8955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67928" y="3398520"/>
            <a:ext cx="3026664" cy="473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107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567928" y="3833774"/>
            <a:ext cx="3026664" cy="310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with 10+ IPL seasons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plots show outliers explicitly as dots beyond the whiskers (1.5×IQR), which is more informative here than a single number — it shows HOW MANY outliers exist and how far they sit from the bulk of the data, for three different metrics side by side.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 matches (about 19% of all 1,158) scored above 220 — far from a rare freak event. The score IQR runs from 135 to 211, while price IQR runs from ₹185L to ₹860L — a much wider relative spread, confirming price is the more skewed metric of the two.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95TH-PERCENTILE CUTOFF: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quantile(0.95) is a data-driven way to define "viral" — the top 5% of engagement_rate values, 216 records, rather than picking an arbitrary fixed threshold.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Finding → Recommendation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1247120" cy="1508760"/>
          </a:xfrm>
          <a:prstGeom prst="roundRect">
            <a:avLst>
              <a:gd name="adj" fmla="val 5455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2377440" cy="1508760"/>
          </a:xfrm>
          <a:prstGeom prst="roundRect">
            <a:avLst>
              <a:gd name="adj" fmla="val 5455"/>
            </a:avLst>
          </a:prstGeom>
          <a:solidFill>
            <a:srgbClr val="00053C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60020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Toss Strategy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63240" y="1618488"/>
            <a:ext cx="8458200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159A1"/>
                </a:solidFill>
              </a:rPr>
              <a:t>FINDING   </a:t>
            </a:r>
            <a:r>
              <a:rPr lang="en-US" sz="1150" dirty="0">
                <a:solidFill>
                  <a:srgbClr val="00010E"/>
                </a:solidFill>
              </a:rPr>
              <a:t>Toss winner win-rate is 46.9% (p=0.75, not significant) — and batting-first toss winners edge out fielding-first ones.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8449"/>
                </a:solidFill>
              </a:rPr>
              <a:t>RECOMMENDATION   </a:t>
            </a:r>
            <a:r>
              <a:rPr lang="en-US" sz="1150" dirty="0">
                <a:solidFill>
                  <a:srgbClr val="00010E"/>
                </a:solidFill>
              </a:rPr>
              <a:t>Don't over-index on toss strategy in pre-match planning; team composition and conditions matter far more than the toss call itself.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1247120" cy="1508760"/>
          </a:xfrm>
          <a:prstGeom prst="roundRect">
            <a:avLst>
              <a:gd name="adj" fmla="val 5455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00400"/>
            <a:ext cx="2377440" cy="1508760"/>
          </a:xfrm>
          <a:prstGeom prst="roundRect">
            <a:avLst>
              <a:gd name="adj" fmla="val 5455"/>
            </a:avLst>
          </a:prstGeom>
          <a:solidFill>
            <a:srgbClr val="00053C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29184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Auction Valuation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63240" y="3310128"/>
            <a:ext cx="8458200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159A1"/>
                </a:solidFill>
              </a:rPr>
              <a:t>FINDING   </a:t>
            </a:r>
            <a:r>
              <a:rPr lang="en-US" sz="1150" dirty="0">
                <a:solidFill>
                  <a:srgbClr val="00010E"/>
                </a:solidFill>
              </a:rPr>
              <a:t>Career length barely predicts price (r=-0.06, not significant), and capped status helps All-Rounders and Wicketkeepers but NOT Batsmen.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8449"/>
                </a:solidFill>
              </a:rPr>
              <a:t>RECOMMENDATION   </a:t>
            </a:r>
            <a:r>
              <a:rPr lang="en-US" sz="1150" dirty="0">
                <a:solidFill>
                  <a:srgbClr val="00010E"/>
                </a:solidFill>
              </a:rPr>
              <a:t>Auction strategy should be built role-by-role from current form, not from career length or cap status alone — a uniform 'experience premium' rule would misprice several roles.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11247120" cy="1508760"/>
          </a:xfrm>
          <a:prstGeom prst="roundRect">
            <a:avLst>
              <a:gd name="adj" fmla="val 5455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892040"/>
            <a:ext cx="2377440" cy="1508760"/>
          </a:xfrm>
          <a:prstGeom prst="roundRect">
            <a:avLst>
              <a:gd name="adj" fmla="val 5455"/>
            </a:avLst>
          </a:prstGeom>
          <a:solidFill>
            <a:srgbClr val="00053C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98348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Fan Monetisation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63240" y="5001768"/>
            <a:ext cx="8458200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159A1"/>
                </a:solidFill>
              </a:rPr>
              <a:t>FINDING   </a:t>
            </a:r>
            <a:r>
              <a:rPr lang="en-US" sz="1150" dirty="0">
                <a:solidFill>
                  <a:srgbClr val="00010E"/>
                </a:solidFill>
              </a:rPr>
              <a:t>win_percentage strongly predicts popularity_index (r=0.88) but is almost uncorrelated with engagement_rate (r=0.01); all 4 platforms perform within 0.2 points of each other.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8449"/>
                </a:solidFill>
              </a:rPr>
              <a:t>RECOMMENDATION   </a:t>
            </a:r>
            <a:r>
              <a:rPr lang="en-US" sz="1150" dirty="0">
                <a:solidFill>
                  <a:srgbClr val="00010E"/>
                </a:solidFill>
              </a:rPr>
              <a:t>Winning builds brand value, not necessarily clicks. Content strategy should chase engagement independently of results, and platform choice can be driven by audience fit rather than expected engagement lift.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15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EDA  •  Viva Preparation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05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KPI Dashboard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818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ipl/charts/15_kpi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177" y="1417320"/>
            <a:ext cx="3534166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417320"/>
            <a:ext cx="3246120" cy="576072"/>
          </a:xfrm>
          <a:prstGeom prst="roundRect">
            <a:avLst>
              <a:gd name="adj" fmla="val 12698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67928" y="1472184"/>
            <a:ext cx="3026664" cy="3341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1,158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567928" y="1762963"/>
            <a:ext cx="3026664" cy="218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matches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458200" y="2139696"/>
            <a:ext cx="3246120" cy="576072"/>
          </a:xfrm>
          <a:prstGeom prst="roundRect">
            <a:avLst>
              <a:gd name="adj" fmla="val 12698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67928" y="2194560"/>
            <a:ext cx="3026664" cy="3341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134,190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567928" y="2485339"/>
            <a:ext cx="3026664" cy="218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deliveries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458200" y="2862072"/>
            <a:ext cx="3246120" cy="576072"/>
          </a:xfrm>
          <a:prstGeom prst="roundRect">
            <a:avLst>
              <a:gd name="adj" fmla="val 12698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67928" y="2916936"/>
            <a:ext cx="3026664" cy="3341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₹860L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567928" y="3207715"/>
            <a:ext cx="3026664" cy="218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75th-pct auction price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458200" y="3584448"/>
            <a:ext cx="3246120" cy="576072"/>
          </a:xfrm>
          <a:prstGeom prst="roundRect">
            <a:avLst>
              <a:gd name="adj" fmla="val 12698"/>
            </a:avLst>
          </a:prstGeom>
          <a:solidFill>
            <a:srgbClr val="00053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567928" y="3639312"/>
            <a:ext cx="3026664" cy="3341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0.88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567928" y="3930091"/>
            <a:ext cx="3026664" cy="218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win% ↔ popularity 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4288536"/>
            <a:ext cx="11247120" cy="2157984"/>
          </a:xfrm>
          <a:prstGeom prst="roundRect">
            <a:avLst>
              <a:gd name="adj" fmla="val 3390"/>
            </a:avLst>
          </a:prstGeom>
          <a:solidFill>
            <a:srgbClr val="EAF1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76656" y="4389120"/>
            <a:ext cx="10808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CHART: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fig.add_axes() (instead of plt.subplots) gives precise pixel control to lay out headline KPI numbers above four supporting charts in one dark-themed figure — the single screen a stakeholder would actually look at, rather than 14 separate charts.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ONE FIGURE, NOT MANY: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is meant to be read in under 30 seconds. Splitting it into separate slides would force a viewer to hold numbers in their head across pages and lose the at-a-glance comparison that is the entire point of a dashboard.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5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TAKEAWAY:  </a:t>
            </a:r>
            <a:r>
              <a:rPr lang="en-US" sz="1200" dirty="0">
                <a:solidFill>
                  <a:srgbClr val="000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on this dashboard traces directly back to a specific chart earlier in this deck — that traceability is exactly what an examiner is checking for when they ask 'where does this number come from?'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0"/>
            <a:ext cx="5486400" cy="5486400"/>
          </a:xfrm>
          <a:prstGeom prst="ellipse">
            <a:avLst/>
          </a:prstGeom>
          <a:solidFill>
            <a:srgbClr val="0159A1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194560"/>
            <a:ext cx="4754880" cy="4754880"/>
          </a:xfrm>
          <a:prstGeom prst="ellipse">
            <a:avLst/>
          </a:prstGeom>
          <a:solidFill>
            <a:srgbClr val="0159A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0F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on any chart, aggregation, or statistic in this deck are welcome.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4069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C8F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1879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C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44988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linked CSV tables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11880" y="4069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C8F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41879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C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built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49040" y="44988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figures across 15 sections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4069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C8F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41879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C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44988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· seaborn · matplotlib · scipy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06840" y="4069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C8F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41879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C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run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0" y="44988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Chi-square + 2 Pearson correlations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277295" y="6519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B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5149</Words>
  <Application>Microsoft Office PowerPoint</Application>
  <PresentationFormat>Widescreen</PresentationFormat>
  <Paragraphs>378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Courier New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Analytics — EDA Viva Presentation</dc:title>
  <dc:subject>PptxGenJS Presentation</dc:subject>
  <dc:creator>Data Analysis Student</dc:creator>
  <cp:lastModifiedBy>Victor xavier vijay</cp:lastModifiedBy>
  <cp:revision>6</cp:revision>
  <dcterms:created xsi:type="dcterms:W3CDTF">2026-06-17T23:28:43Z</dcterms:created>
  <dcterms:modified xsi:type="dcterms:W3CDTF">2026-10-21T10:00:21Z</dcterms:modified>
</cp:coreProperties>
</file>